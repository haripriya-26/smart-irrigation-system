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439F10-D9AC-419B-904D-7B6839217357}" v="92" dt="2025-09-22T06:33:28.9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864" y="1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2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009704" y="338676"/>
            <a:ext cx="10172591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</a:p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ArgoSmart: Smart Irrigation with Rainwater Harvesting</a:t>
            </a:r>
            <a:endParaRPr lang="en-IN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3430" y="2102432"/>
            <a:ext cx="7101145" cy="3967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SIH25062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Implementation of Smart Agriculture for  Efficient Cultivation in Hilly Regions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 - Agriculture,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FoodTech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&amp; Rural Development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Hardware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- Team Titans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0" y="-212442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69275" y="1179965"/>
            <a:ext cx="11453447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ArgoSmart: Smart Irrigation with Rainwater Harvesting</a:t>
            </a:r>
            <a:endParaRPr lang="en-IN" sz="36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Team Titans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0CD320-0FB4-EEDF-A0D0-4EB67DA296C7}"/>
              </a:ext>
            </a:extLst>
          </p:cNvPr>
          <p:cNvSpPr txBox="1"/>
          <p:nvPr/>
        </p:nvSpPr>
        <p:spPr>
          <a:xfrm>
            <a:off x="6576646" y="2294338"/>
            <a:ext cx="500575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 sensors to monitor field conditions by using Soil moisture sensor.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sensors to monitor field conditions by using Temperature Sensor(DTF11).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valve control through microcontrollers (Arduino).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78C6DE-2845-2DEE-4C29-8E1F47EB7B01}"/>
              </a:ext>
            </a:extLst>
          </p:cNvPr>
          <p:cNvSpPr txBox="1"/>
          <p:nvPr/>
        </p:nvSpPr>
        <p:spPr>
          <a:xfrm>
            <a:off x="369275" y="2054374"/>
            <a:ext cx="490024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endParaRPr lang="en-IN" sz="2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Rainless summers and frequent water scarcity: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traditional irrigation unreliable and inefficient.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providing adequate water to crops: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reduced yields and waste. resources.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change: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intensifying the existing issues of water scarcity.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610662-4806-37D0-925C-F492B3C59FB3}"/>
              </a:ext>
            </a:extLst>
          </p:cNvPr>
          <p:cNvSpPr txBox="1"/>
          <p:nvPr/>
        </p:nvSpPr>
        <p:spPr>
          <a:xfrm>
            <a:off x="4932484" y="3500923"/>
            <a:ext cx="1307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BAC9058F-789E-AA1A-A18F-E09FDD23D689}"/>
              </a:ext>
            </a:extLst>
          </p:cNvPr>
          <p:cNvSpPr/>
          <p:nvPr/>
        </p:nvSpPr>
        <p:spPr>
          <a:xfrm>
            <a:off x="5300631" y="3500923"/>
            <a:ext cx="949569" cy="656492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Team Titans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D11DE90-7D1D-FD01-EE06-A2A0F9416DD6}"/>
              </a:ext>
            </a:extLst>
          </p:cNvPr>
          <p:cNvSpPr txBox="1"/>
          <p:nvPr/>
        </p:nvSpPr>
        <p:spPr>
          <a:xfrm>
            <a:off x="8343686" y="1127850"/>
            <a:ext cx="3327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TECHNOLOGY: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38887A-D93A-0DFE-7998-E62AE8E3EC62}"/>
              </a:ext>
            </a:extLst>
          </p:cNvPr>
          <p:cNvSpPr txBox="1"/>
          <p:nvPr/>
        </p:nvSpPr>
        <p:spPr>
          <a:xfrm>
            <a:off x="8232339" y="1560435"/>
            <a:ext cx="326921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Sensors</a:t>
            </a:r>
          </a:p>
          <a:p>
            <a:r>
              <a:rPr lang="en-IN" dirty="0"/>
              <a:t>          Soil Moisture Sensors</a:t>
            </a:r>
          </a:p>
          <a:p>
            <a:r>
              <a:rPr lang="en-IN" dirty="0"/>
              <a:t>          Temperature Sensors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Microcontrollers</a:t>
            </a:r>
          </a:p>
          <a:p>
            <a:r>
              <a:rPr lang="en-IN" dirty="0"/>
              <a:t>          Arduino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Actuators</a:t>
            </a:r>
          </a:p>
          <a:p>
            <a:r>
              <a:rPr lang="en-IN" dirty="0"/>
              <a:t>          Automated Valves</a:t>
            </a:r>
          </a:p>
          <a:p>
            <a:r>
              <a:rPr lang="en-IN" dirty="0"/>
              <a:t>          Water Pumps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909631-3CDE-3CE3-06A0-2511E0B85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792501" y="21555"/>
            <a:ext cx="4876799" cy="72426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Team Titans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9A12FA-F03F-1CA4-E19C-67A972EEC66F}"/>
              </a:ext>
            </a:extLst>
          </p:cNvPr>
          <p:cNvSpPr txBox="1"/>
          <p:nvPr/>
        </p:nvSpPr>
        <p:spPr>
          <a:xfrm>
            <a:off x="942565" y="974340"/>
            <a:ext cx="9870831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Readiness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IoT backbone using ESP32/Arduino with soil-moisture, temperature, humidity, and water-level sensors ensures accurate real-time monitoring and reliable pump control.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Easily integrates with existing irrigation lines and rainwater storage tanks without major redesign of current water distribution systems.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Automated sensing and motor ON/OFF operation maintains optimal soil moisture, reducing water wastage and improving plant health.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System can scale from a single garden or farm plot to multiple fields by adding extra sensors, pumps, and wireless nodes.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Viability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Viability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Saves significant mains-water costs and reduces manual labor through automatic irrigation scheduling.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Benefits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Suitable for household gardens, community farms, and remote agricultural areas where water scarcity or irregular supply exists.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Viability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Promotes sustainable water usage and supports food security by maintaining consistent crop yields even during dry periods.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Sustainability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Captures and reuses rainwater, lowering groundwater extraction and conserving natural resources.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Team Titans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Heptagon 1">
            <a:extLst>
              <a:ext uri="{FF2B5EF4-FFF2-40B4-BE49-F238E27FC236}">
                <a16:creationId xmlns:a16="http://schemas.microsoft.com/office/drawing/2014/main" id="{81DCF913-DCF8-8F80-E3C1-A33BDF3E5421}"/>
              </a:ext>
            </a:extLst>
          </p:cNvPr>
          <p:cNvSpPr/>
          <p:nvPr/>
        </p:nvSpPr>
        <p:spPr>
          <a:xfrm>
            <a:off x="361152" y="1894322"/>
            <a:ext cx="339969" cy="351692"/>
          </a:xfrm>
          <a:prstGeom prst="hept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4" name="Heptagon 3">
            <a:extLst>
              <a:ext uri="{FF2B5EF4-FFF2-40B4-BE49-F238E27FC236}">
                <a16:creationId xmlns:a16="http://schemas.microsoft.com/office/drawing/2014/main" id="{9209C9DA-C55E-DF40-9E82-010BE1A67827}"/>
              </a:ext>
            </a:extLst>
          </p:cNvPr>
          <p:cNvSpPr/>
          <p:nvPr/>
        </p:nvSpPr>
        <p:spPr>
          <a:xfrm>
            <a:off x="6444073" y="3531325"/>
            <a:ext cx="339969" cy="351692"/>
          </a:xfrm>
          <a:prstGeom prst="hept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5" name="Heptagon 4">
            <a:extLst>
              <a:ext uri="{FF2B5EF4-FFF2-40B4-BE49-F238E27FC236}">
                <a16:creationId xmlns:a16="http://schemas.microsoft.com/office/drawing/2014/main" id="{38BC3466-42C8-DEB2-E8E9-AECBF39D02AA}"/>
              </a:ext>
            </a:extLst>
          </p:cNvPr>
          <p:cNvSpPr/>
          <p:nvPr/>
        </p:nvSpPr>
        <p:spPr>
          <a:xfrm>
            <a:off x="6444072" y="5266388"/>
            <a:ext cx="339969" cy="351692"/>
          </a:xfrm>
          <a:prstGeom prst="hept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1" name="Heptagon 10">
            <a:extLst>
              <a:ext uri="{FF2B5EF4-FFF2-40B4-BE49-F238E27FC236}">
                <a16:creationId xmlns:a16="http://schemas.microsoft.com/office/drawing/2014/main" id="{67222807-6641-CCAA-D38D-5AD1981D1EEF}"/>
              </a:ext>
            </a:extLst>
          </p:cNvPr>
          <p:cNvSpPr/>
          <p:nvPr/>
        </p:nvSpPr>
        <p:spPr>
          <a:xfrm>
            <a:off x="359353" y="5266388"/>
            <a:ext cx="339969" cy="351692"/>
          </a:xfrm>
          <a:prstGeom prst="hept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4" name="Heptagon 13">
            <a:extLst>
              <a:ext uri="{FF2B5EF4-FFF2-40B4-BE49-F238E27FC236}">
                <a16:creationId xmlns:a16="http://schemas.microsoft.com/office/drawing/2014/main" id="{17F0A695-CC02-BE44-889A-B59285389062}"/>
              </a:ext>
            </a:extLst>
          </p:cNvPr>
          <p:cNvSpPr/>
          <p:nvPr/>
        </p:nvSpPr>
        <p:spPr>
          <a:xfrm>
            <a:off x="6444071" y="1894322"/>
            <a:ext cx="339969" cy="351692"/>
          </a:xfrm>
          <a:prstGeom prst="hept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15" name="Heptagon 14">
            <a:extLst>
              <a:ext uri="{FF2B5EF4-FFF2-40B4-BE49-F238E27FC236}">
                <a16:creationId xmlns:a16="http://schemas.microsoft.com/office/drawing/2014/main" id="{BD931F87-46E1-330F-CD59-89156991F19D}"/>
              </a:ext>
            </a:extLst>
          </p:cNvPr>
          <p:cNvSpPr/>
          <p:nvPr/>
        </p:nvSpPr>
        <p:spPr>
          <a:xfrm>
            <a:off x="380265" y="3520728"/>
            <a:ext cx="339969" cy="351692"/>
          </a:xfrm>
          <a:prstGeom prst="hept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9152DEC-2462-CEDF-12AE-9138E1252A63}"/>
              </a:ext>
            </a:extLst>
          </p:cNvPr>
          <p:cNvSpPr/>
          <p:nvPr/>
        </p:nvSpPr>
        <p:spPr>
          <a:xfrm>
            <a:off x="7058504" y="3322468"/>
            <a:ext cx="1701642" cy="9341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Climate Change Adaptation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CE55558-2688-F0F0-4A34-6F0F30315449}"/>
              </a:ext>
            </a:extLst>
          </p:cNvPr>
          <p:cNvSpPr/>
          <p:nvPr/>
        </p:nvSpPr>
        <p:spPr>
          <a:xfrm>
            <a:off x="7058503" y="5035183"/>
            <a:ext cx="1701643" cy="93418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Crop Yields &amp; Quality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08CAF6C-D61E-0AA1-8A47-0064467FCD4F}"/>
              </a:ext>
            </a:extLst>
          </p:cNvPr>
          <p:cNvSpPr/>
          <p:nvPr/>
        </p:nvSpPr>
        <p:spPr>
          <a:xfrm>
            <a:off x="7058504" y="1579532"/>
            <a:ext cx="1701644" cy="93418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Water Conservation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B7976FC-BC27-9E99-E4D7-E069853C44B2}"/>
              </a:ext>
            </a:extLst>
          </p:cNvPr>
          <p:cNvSpPr/>
          <p:nvPr/>
        </p:nvSpPr>
        <p:spPr>
          <a:xfrm>
            <a:off x="1060283" y="4973659"/>
            <a:ext cx="1701645" cy="9371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Community &amp;Regional Development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2FB684E-7897-57C9-F518-4AD28CCE822A}"/>
              </a:ext>
            </a:extLst>
          </p:cNvPr>
          <p:cNvSpPr/>
          <p:nvPr/>
        </p:nvSpPr>
        <p:spPr>
          <a:xfrm>
            <a:off x="1054168" y="3206996"/>
            <a:ext cx="1701645" cy="9371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 Empowerment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1D23417-E516-8168-52C2-62F0F28D8057}"/>
              </a:ext>
            </a:extLst>
          </p:cNvPr>
          <p:cNvSpPr/>
          <p:nvPr/>
        </p:nvSpPr>
        <p:spPr>
          <a:xfrm>
            <a:off x="1060283" y="1645645"/>
            <a:ext cx="1701645" cy="937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Sustainability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D12EF27-3798-E80D-6FE4-201C2695B1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3542" y="1200097"/>
            <a:ext cx="2209120" cy="16092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3D6BA3A-7F8A-1837-1CB1-4C91466454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3542" y="4667479"/>
            <a:ext cx="2209120" cy="16092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AA2AEEE-4467-F2DD-2AA0-3083E169E3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3542" y="2920432"/>
            <a:ext cx="2209120" cy="16092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9DE0332-7F8B-E1C8-F9BD-C5CA7241F4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1537" y="2927012"/>
            <a:ext cx="2231444" cy="16624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1D4D437-A808-9A49-5C06-1C9E7E2F8E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 flipV="1">
            <a:off x="3642303" y="4667479"/>
            <a:ext cx="2231444" cy="16092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8257589-8FB3-4FEB-1187-51131F380D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9594" y="1218969"/>
            <a:ext cx="2231444" cy="16092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8618FB3-EB7B-5A01-A4A4-ACCBB174BC36}"/>
              </a:ext>
            </a:extLst>
          </p:cNvPr>
          <p:cNvCxnSpPr>
            <a:cxnSpLocks/>
          </p:cNvCxnSpPr>
          <p:nvPr/>
        </p:nvCxnSpPr>
        <p:spPr>
          <a:xfrm flipV="1">
            <a:off x="8879750" y="2046624"/>
            <a:ext cx="45419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11B977D-4816-49F8-D9C0-28A793060ED7}"/>
              </a:ext>
            </a:extLst>
          </p:cNvPr>
          <p:cNvCxnSpPr>
            <a:cxnSpLocks/>
          </p:cNvCxnSpPr>
          <p:nvPr/>
        </p:nvCxnSpPr>
        <p:spPr>
          <a:xfrm flipV="1">
            <a:off x="8879749" y="3767363"/>
            <a:ext cx="45419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9D2886B-7D40-5845-2F70-60BD7A8CBAF4}"/>
              </a:ext>
            </a:extLst>
          </p:cNvPr>
          <p:cNvCxnSpPr>
            <a:cxnSpLocks/>
          </p:cNvCxnSpPr>
          <p:nvPr/>
        </p:nvCxnSpPr>
        <p:spPr>
          <a:xfrm flipV="1">
            <a:off x="8879749" y="5502276"/>
            <a:ext cx="45419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3220872-728D-6F78-FEE8-D0AC260932D0}"/>
              </a:ext>
            </a:extLst>
          </p:cNvPr>
          <p:cNvCxnSpPr>
            <a:cxnSpLocks/>
          </p:cNvCxnSpPr>
          <p:nvPr/>
        </p:nvCxnSpPr>
        <p:spPr>
          <a:xfrm flipV="1">
            <a:off x="2942432" y="2114219"/>
            <a:ext cx="45419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B568911-69F7-DC6F-ADC3-899AEB3DB09D}"/>
              </a:ext>
            </a:extLst>
          </p:cNvPr>
          <p:cNvCxnSpPr>
            <a:cxnSpLocks/>
          </p:cNvCxnSpPr>
          <p:nvPr/>
        </p:nvCxnSpPr>
        <p:spPr>
          <a:xfrm flipV="1">
            <a:off x="2941367" y="3673525"/>
            <a:ext cx="45419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F24812E-4F7A-6A27-0CC9-5D7ED9A01B3C}"/>
              </a:ext>
            </a:extLst>
          </p:cNvPr>
          <p:cNvCxnSpPr>
            <a:cxnSpLocks/>
          </p:cNvCxnSpPr>
          <p:nvPr/>
        </p:nvCxnSpPr>
        <p:spPr>
          <a:xfrm flipV="1">
            <a:off x="2942432" y="5502277"/>
            <a:ext cx="45419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046B6C75-6E6A-943C-E5BC-11D7313C020C}"/>
              </a:ext>
            </a:extLst>
          </p:cNvPr>
          <p:cNvSpPr txBox="1"/>
          <p:nvPr/>
        </p:nvSpPr>
        <p:spPr>
          <a:xfrm>
            <a:off x="1240787" y="947191"/>
            <a:ext cx="17016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FCA328-7FF5-0C36-4721-1A9D2C39AF1C}"/>
              </a:ext>
            </a:extLst>
          </p:cNvPr>
          <p:cNvSpPr txBox="1"/>
          <p:nvPr/>
        </p:nvSpPr>
        <p:spPr>
          <a:xfrm>
            <a:off x="7058503" y="903853"/>
            <a:ext cx="20285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58AE097-0C97-8BD9-F6A3-F04CAE3E040F}"/>
              </a:ext>
            </a:extLst>
          </p:cNvPr>
          <p:cNvCxnSpPr>
            <a:cxnSpLocks/>
          </p:cNvCxnSpPr>
          <p:nvPr/>
        </p:nvCxnSpPr>
        <p:spPr>
          <a:xfrm>
            <a:off x="6191056" y="918005"/>
            <a:ext cx="0" cy="53521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Team Titans</a:t>
            </a: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F7A525-0D2B-B9A9-66F3-3A4B00B7B914}"/>
              </a:ext>
            </a:extLst>
          </p:cNvPr>
          <p:cNvSpPr txBox="1"/>
          <p:nvPr/>
        </p:nvSpPr>
        <p:spPr>
          <a:xfrm>
            <a:off x="1015846" y="1743781"/>
            <a:ext cx="1046870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“Rainwater Harvesting for Drylands and Beyond, Volume 1 &amp; 2” – Brad Lancaster (Chelsea Green Publishing)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“Internet of Things (IoT) for Sustainable Agriculture” – edited by Raj P. &amp; S. Shanmugam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Websites</a:t>
            </a: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Rainwater Harvesting Community (HarvestH2O)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Ground Water Board – Rainwater Harvesting Guide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7943</TotalTime>
  <Words>485</Words>
  <Application>Microsoft Office PowerPoint</Application>
  <PresentationFormat>Widescreen</PresentationFormat>
  <Paragraphs>96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Indhu Vijaymurali</cp:lastModifiedBy>
  <cp:revision>149</cp:revision>
  <dcterms:created xsi:type="dcterms:W3CDTF">2013-12-12T18:46:50Z</dcterms:created>
  <dcterms:modified xsi:type="dcterms:W3CDTF">2025-09-22T07:24:10Z</dcterms:modified>
  <cp:category/>
</cp:coreProperties>
</file>